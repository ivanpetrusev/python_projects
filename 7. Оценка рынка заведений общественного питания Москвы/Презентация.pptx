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Nunito" panose="020B0604020202020204" charset="-52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75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7dcfffdd66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7dcfffdd66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7dcfffdd66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7dcfffdd66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7dcfffdd66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7dcfffdd66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89645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7dcfffdd66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7dcfffdd66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0541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7dcfffdd66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7dcfffdd66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68129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7dcfffdd66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7dcfffdd66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43126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7dcfffdd66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7dcfffdd66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21516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7dcfffdd66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7dcfffdd66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16454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7dcfffdd66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7dcfffdd66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8059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7dcfffdd66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7dcfffdd66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88130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7dcfffdd66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7dcfffdd66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15856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7dcfffdd66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7dcfffdd66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9061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Анализ рынка заведений общественного питания Москвы</a:t>
            </a:r>
            <a:endParaRPr sz="2000"/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title"/>
          </p:nvPr>
        </p:nvSpPr>
        <p:spPr>
          <a:xfrm>
            <a:off x="819150" y="24127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500" b="1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Общие выводы</a:t>
            </a:r>
            <a:endParaRPr sz="1700"/>
          </a:p>
        </p:txBody>
      </p:sp>
      <p:sp>
        <p:nvSpPr>
          <p:cNvPr id="135" name="Google Shape;135;p14"/>
          <p:cNvSpPr txBox="1">
            <a:spLocks noGrp="1"/>
          </p:cNvSpPr>
          <p:nvPr>
            <p:ph type="body" idx="1"/>
          </p:nvPr>
        </p:nvSpPr>
        <p:spPr>
          <a:xfrm>
            <a:off x="819150" y="891648"/>
            <a:ext cx="7505700" cy="36803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50" dirty="0">
                <a:solidFill>
                  <a:srgbClr val="E48312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lang="ru" sz="1350" dirty="0">
                <a:solidFill>
                  <a:srgbClr val="404040"/>
                </a:solidFill>
              </a:rPr>
              <a:t>Большую часть заведений в городе составляют кафе (</a:t>
            </a:r>
            <a:r>
              <a:rPr lang="ru" sz="1350" dirty="0" smtClean="0">
                <a:solidFill>
                  <a:srgbClr val="404040"/>
                </a:solidFill>
              </a:rPr>
              <a:t>4</a:t>
            </a:r>
            <a:r>
              <a:rPr lang="en-US" sz="1350" smtClean="0">
                <a:solidFill>
                  <a:srgbClr val="404040"/>
                </a:solidFill>
              </a:rPr>
              <a:t>0</a:t>
            </a:r>
            <a:r>
              <a:rPr lang="ru" sz="1350" smtClean="0">
                <a:solidFill>
                  <a:srgbClr val="404040"/>
                </a:solidFill>
              </a:rPr>
              <a:t>%) </a:t>
            </a:r>
            <a:r>
              <a:rPr lang="ru" sz="1350" dirty="0">
                <a:solidFill>
                  <a:srgbClr val="404040"/>
                </a:solidFill>
              </a:rPr>
              <a:t>- это примерно столько же, сколько столовые, рестораны и фастфуд вместе взятые.</a:t>
            </a:r>
            <a:endParaRPr sz="1350" dirty="0">
              <a:solidFill>
                <a:srgbClr val="404040"/>
              </a:solidFill>
            </a:endParaRPr>
          </a:p>
          <a:p>
            <a:pPr marL="0" lvl="0" indent="0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50" dirty="0">
                <a:solidFill>
                  <a:srgbClr val="E48312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lang="ru" sz="1350" dirty="0">
                <a:solidFill>
                  <a:srgbClr val="404040"/>
                </a:solidFill>
              </a:rPr>
              <a:t>81% заведений в городе составляют несетевые места.</a:t>
            </a:r>
            <a:endParaRPr sz="1350" dirty="0">
              <a:solidFill>
                <a:srgbClr val="404040"/>
              </a:solidFill>
            </a:endParaRPr>
          </a:p>
          <a:p>
            <a:pPr marL="0" lvl="0" indent="0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50" dirty="0">
                <a:solidFill>
                  <a:srgbClr val="E48312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ru" sz="1350" dirty="0">
                <a:solidFill>
                  <a:srgbClr val="404040"/>
                </a:solidFill>
              </a:rPr>
              <a:t>В </a:t>
            </a:r>
            <a:r>
              <a:rPr lang="ru" sz="1350" dirty="0" smtClean="0">
                <a:solidFill>
                  <a:srgbClr val="404040"/>
                </a:solidFill>
              </a:rPr>
              <a:t>основном, </a:t>
            </a:r>
            <a:r>
              <a:rPr lang="ru" sz="1350" dirty="0">
                <a:solidFill>
                  <a:srgbClr val="404040"/>
                </a:solidFill>
              </a:rPr>
              <a:t>размещают большое количество заведений с небольшим количеством мест.</a:t>
            </a:r>
            <a:endParaRPr sz="1350" dirty="0">
              <a:solidFill>
                <a:srgbClr val="404040"/>
              </a:solidFill>
            </a:endParaRPr>
          </a:p>
          <a:p>
            <a:pPr marL="0" lvl="0" indent="0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50" dirty="0">
                <a:solidFill>
                  <a:srgbClr val="E48312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r>
              <a:rPr lang="ru" sz="1350" dirty="0">
                <a:solidFill>
                  <a:srgbClr val="404040"/>
                </a:solidFill>
              </a:rPr>
              <a:t>В среднем больше всего посадочных мест в столовых (130), немного меньше в ресторанах (96), меньше всего посадочных места делают в магазине (отдел кулинарии) - 5 и в закусочных - 7.</a:t>
            </a:r>
            <a:endParaRPr sz="1350" dirty="0">
              <a:solidFill>
                <a:srgbClr val="404040"/>
              </a:solidFill>
            </a:endParaRPr>
          </a:p>
          <a:p>
            <a:pPr marL="0" lvl="0" indent="0" algn="just">
              <a:lnSpc>
                <a:spcPct val="90000"/>
              </a:lnSpc>
              <a:spcBef>
                <a:spcPts val="1200"/>
              </a:spcBef>
              <a:buNone/>
            </a:pPr>
            <a:r>
              <a:rPr lang="ru" sz="1350" dirty="0" smtClean="0">
                <a:solidFill>
                  <a:srgbClr val="E48312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r>
              <a:rPr lang="ru-RU" sz="1350" dirty="0" smtClean="0">
                <a:solidFill>
                  <a:srgbClr val="404040"/>
                </a:solidFill>
              </a:rPr>
              <a:t>Среди </a:t>
            </a:r>
            <a:r>
              <a:rPr lang="ru-RU" sz="1350" dirty="0">
                <a:solidFill>
                  <a:srgbClr val="404040"/>
                </a:solidFill>
              </a:rPr>
              <a:t>районов, включающих 10 самых популярных улиц для размещения точек питания, больше всего </a:t>
            </a:r>
            <a:r>
              <a:rPr lang="ru-RU" sz="1350" dirty="0" smtClean="0">
                <a:solidFill>
                  <a:srgbClr val="404040"/>
                </a:solidFill>
              </a:rPr>
              <a:t>заведений в </a:t>
            </a:r>
            <a:r>
              <a:rPr lang="ru-RU" sz="1350" dirty="0">
                <a:solidFill>
                  <a:srgbClr val="404040"/>
                </a:solidFill>
              </a:rPr>
              <a:t>Гагаринском районе (3 улицы), а также в районах - Тропарево-Никулино, </a:t>
            </a:r>
            <a:r>
              <a:rPr lang="ru-RU" sz="1350" dirty="0" err="1">
                <a:solidFill>
                  <a:srgbClr val="404040"/>
                </a:solidFill>
              </a:rPr>
              <a:t>Обручевский</a:t>
            </a:r>
            <a:r>
              <a:rPr lang="ru-RU" sz="1350" dirty="0">
                <a:solidFill>
                  <a:srgbClr val="404040"/>
                </a:solidFill>
              </a:rPr>
              <a:t>, Донской, Теплый стан, </a:t>
            </a:r>
            <a:r>
              <a:rPr lang="ru-RU" sz="1350" dirty="0" err="1">
                <a:solidFill>
                  <a:srgbClr val="404040"/>
                </a:solidFill>
              </a:rPr>
              <a:t>Нагатино</a:t>
            </a:r>
            <a:r>
              <a:rPr lang="ru-RU" sz="1350" dirty="0">
                <a:solidFill>
                  <a:srgbClr val="404040"/>
                </a:solidFill>
              </a:rPr>
              <a:t>-Садовники, Ломоносовский (по 2 улицы), Свиблово, Северное Бутово (по 1</a:t>
            </a:r>
            <a:r>
              <a:rPr lang="ru-RU" sz="1350" dirty="0" smtClean="0">
                <a:solidFill>
                  <a:srgbClr val="404040"/>
                </a:solidFill>
              </a:rPr>
              <a:t>).</a:t>
            </a:r>
          </a:p>
          <a:p>
            <a:pPr marL="0" lvl="0" indent="0" algn="just">
              <a:lnSpc>
                <a:spcPct val="90000"/>
              </a:lnSpc>
              <a:spcBef>
                <a:spcPts val="1200"/>
              </a:spcBef>
              <a:buNone/>
            </a:pPr>
            <a:r>
              <a:rPr lang="ru" sz="1350" dirty="0" smtClean="0">
                <a:solidFill>
                  <a:srgbClr val="E48312"/>
                </a:solidFill>
                <a:latin typeface="Arial"/>
                <a:ea typeface="Arial"/>
                <a:cs typeface="Arial"/>
                <a:sym typeface="Arial"/>
              </a:rPr>
              <a:t>6.</a:t>
            </a:r>
            <a:r>
              <a:rPr lang="ru" sz="1350" dirty="0" smtClean="0">
                <a:solidFill>
                  <a:srgbClr val="404040"/>
                </a:solidFill>
              </a:rPr>
              <a:t>Особо </a:t>
            </a:r>
            <a:r>
              <a:rPr lang="ru" sz="1350" dirty="0">
                <a:solidFill>
                  <a:srgbClr val="404040"/>
                </a:solidFill>
              </a:rPr>
              <a:t>примечательно, что в Москве </a:t>
            </a:r>
            <a:r>
              <a:rPr lang="ru" sz="1350" dirty="0" smtClean="0">
                <a:solidFill>
                  <a:srgbClr val="404040"/>
                </a:solidFill>
              </a:rPr>
              <a:t>обнаружено </a:t>
            </a:r>
            <a:r>
              <a:rPr lang="ru" sz="1350" dirty="0">
                <a:solidFill>
                  <a:srgbClr val="404040"/>
                </a:solidFill>
              </a:rPr>
              <a:t>целых 579 улиц, на которых не более 1 места питания. Такие улицы находятся в Таганском (28), Хамовники (26) и Басманном (24) районах и т.д.</a:t>
            </a:r>
            <a:endParaRPr sz="1350" dirty="0">
              <a:solidFill>
                <a:srgbClr val="404040"/>
              </a:solidFill>
            </a:endParaRPr>
          </a:p>
          <a:p>
            <a:pPr marL="0" lvl="0" indent="0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50" dirty="0">
                <a:solidFill>
                  <a:srgbClr val="E48312"/>
                </a:solidFill>
                <a:latin typeface="Arial"/>
                <a:ea typeface="Arial"/>
                <a:cs typeface="Arial"/>
                <a:sym typeface="Arial"/>
              </a:rPr>
              <a:t>7.</a:t>
            </a:r>
            <a:r>
              <a:rPr lang="ru" sz="1350" dirty="0">
                <a:solidFill>
                  <a:srgbClr val="404040"/>
                </a:solidFill>
              </a:rPr>
              <a:t>Большинство заведений общественного питания в Москве </a:t>
            </a:r>
            <a:r>
              <a:rPr lang="ru" sz="1350" dirty="0" smtClean="0">
                <a:solidFill>
                  <a:srgbClr val="404040"/>
                </a:solidFill>
              </a:rPr>
              <a:t>имеют </a:t>
            </a:r>
            <a:r>
              <a:rPr lang="ru" sz="1350" dirty="0">
                <a:solidFill>
                  <a:srgbClr val="404040"/>
                </a:solidFill>
              </a:rPr>
              <a:t>до </a:t>
            </a:r>
            <a:r>
              <a:rPr lang="ru" sz="1350" dirty="0" smtClean="0">
                <a:solidFill>
                  <a:srgbClr val="404040"/>
                </a:solidFill>
              </a:rPr>
              <a:t>250 - 300 </a:t>
            </a:r>
            <a:r>
              <a:rPr lang="ru" sz="1350" dirty="0">
                <a:solidFill>
                  <a:srgbClr val="404040"/>
                </a:solidFill>
              </a:rPr>
              <a:t>посадочных мест.</a:t>
            </a:r>
            <a:endParaRPr sz="1350" dirty="0">
              <a:solidFill>
                <a:srgbClr val="404040"/>
              </a:solidFill>
            </a:endParaRPr>
          </a:p>
          <a:p>
            <a:pPr marL="0" lvl="0" indent="0" algn="l" rtl="0">
              <a:spcBef>
                <a:spcPts val="200"/>
              </a:spcBef>
              <a:spcAft>
                <a:spcPts val="1600"/>
              </a:spcAft>
              <a:buNone/>
            </a:pPr>
            <a:endParaRPr sz="13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xfrm>
            <a:off x="752000" y="483800"/>
            <a:ext cx="7505700" cy="5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 b="1" dirty="0" smtClean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Распрострненность </a:t>
            </a:r>
            <a:r>
              <a:rPr lang="ru" sz="2200" b="1" dirty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заведений общественного питания по их типу</a:t>
            </a:r>
            <a:endParaRPr sz="1600" b="1" dirty="0"/>
          </a:p>
        </p:txBody>
      </p:sp>
      <p:sp>
        <p:nvSpPr>
          <p:cNvPr id="142" name="Google Shape;142;p15"/>
          <p:cNvSpPr txBox="1"/>
          <p:nvPr/>
        </p:nvSpPr>
        <p:spPr>
          <a:xfrm>
            <a:off x="649275" y="4445200"/>
            <a:ext cx="39618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latin typeface="Calibri"/>
                <a:ea typeface="Calibri"/>
                <a:cs typeface="Calibri"/>
                <a:sym typeface="Calibri"/>
              </a:rPr>
              <a:t>Внутренние данные Яндекс.Карты</a:t>
            </a:r>
            <a:endParaRPr sz="18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5777345" y="1250550"/>
            <a:ext cx="313163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b="1" dirty="0">
                <a:latin typeface="Calibri"/>
                <a:ea typeface="Calibri"/>
                <a:cs typeface="Calibri"/>
                <a:sym typeface="Calibri"/>
              </a:rPr>
              <a:t>Выводы:</a:t>
            </a:r>
            <a:endParaRPr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1.</a:t>
            </a:r>
            <a:r>
              <a:rPr lang="ru" dirty="0">
                <a:latin typeface="Calibri"/>
                <a:ea typeface="Calibri"/>
                <a:cs typeface="Calibri"/>
                <a:sym typeface="Calibri"/>
              </a:rPr>
              <a:t>Кафе составляют примерно половину всего общепита Москвы (</a:t>
            </a:r>
            <a:r>
              <a:rPr lang="ru" dirty="0" smtClean="0"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ru" dirty="0" smtClean="0">
                <a:latin typeface="Calibri"/>
                <a:ea typeface="Calibri"/>
                <a:cs typeface="Calibri"/>
                <a:sym typeface="Calibri"/>
              </a:rPr>
              <a:t>%);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2.</a:t>
            </a:r>
            <a:r>
              <a:rPr lang="ru" dirty="0">
                <a:latin typeface="Calibri"/>
                <a:ea typeface="Calibri"/>
                <a:cs typeface="Calibri"/>
                <a:sym typeface="Calibri"/>
              </a:rPr>
              <a:t>Доля кафе примерно равна числу столовых, ресторанов и фастфуда вместе взятых;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3.</a:t>
            </a:r>
            <a:r>
              <a:rPr lang="ru" dirty="0">
                <a:latin typeface="Calibri"/>
                <a:ea typeface="Calibri"/>
                <a:cs typeface="Calibri"/>
                <a:sym typeface="Calibri"/>
              </a:rPr>
              <a:t>В Москве доля столовых (</a:t>
            </a:r>
            <a:r>
              <a:rPr lang="ru" dirty="0" smtClean="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>6,8</a:t>
            </a:r>
            <a:r>
              <a:rPr lang="ru" dirty="0" smtClean="0">
                <a:latin typeface="Calibri"/>
                <a:ea typeface="Calibri"/>
                <a:cs typeface="Calibri"/>
                <a:sym typeface="Calibri"/>
              </a:rPr>
              <a:t>%) </a:t>
            </a:r>
            <a:r>
              <a:rPr lang="ru" dirty="0">
                <a:latin typeface="Calibri"/>
                <a:ea typeface="Calibri"/>
                <a:cs typeface="Calibri"/>
                <a:sym typeface="Calibri"/>
              </a:rPr>
              <a:t>сопоставима доли ресторанов </a:t>
            </a:r>
            <a:r>
              <a:rPr lang="ru" dirty="0" smtClean="0"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>14,9</a:t>
            </a:r>
            <a:r>
              <a:rPr lang="ru" dirty="0" smtClean="0">
                <a:latin typeface="Calibri"/>
                <a:ea typeface="Calibri"/>
                <a:cs typeface="Calibri"/>
                <a:sym typeface="Calibri"/>
              </a:rPr>
              <a:t>%);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4.</a:t>
            </a:r>
            <a:r>
              <a:rPr lang="ru" dirty="0">
                <a:latin typeface="Calibri"/>
                <a:ea typeface="Calibri"/>
                <a:cs typeface="Calibri"/>
                <a:sym typeface="Calibri"/>
              </a:rPr>
              <a:t>Менее </a:t>
            </a:r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ru" dirty="0" smtClean="0">
                <a:latin typeface="Calibri"/>
                <a:ea typeface="Calibri"/>
                <a:cs typeface="Calibri"/>
                <a:sym typeface="Calibri"/>
              </a:rPr>
              <a:t>% </a:t>
            </a:r>
            <a:r>
              <a:rPr lang="ru" dirty="0">
                <a:latin typeface="Calibri"/>
                <a:ea typeface="Calibri"/>
                <a:cs typeface="Calibri"/>
                <a:sym typeface="Calibri"/>
              </a:rPr>
              <a:t>составляют кафетерии, закусочные и отделы кулинарии.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14" t="21030" r="1221" b="14242"/>
          <a:stretch/>
        </p:blipFill>
        <p:spPr>
          <a:xfrm>
            <a:off x="649276" y="1808018"/>
            <a:ext cx="4875914" cy="24425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xfrm>
            <a:off x="752000" y="483800"/>
            <a:ext cx="7505700" cy="5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2200" b="1" dirty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Соотношение  сетевых и несетевых заведений</a:t>
            </a:r>
            <a:endParaRPr sz="1600" b="1" dirty="0"/>
          </a:p>
        </p:txBody>
      </p:sp>
      <p:sp>
        <p:nvSpPr>
          <p:cNvPr id="142" name="Google Shape;142;p15"/>
          <p:cNvSpPr txBox="1"/>
          <p:nvPr/>
        </p:nvSpPr>
        <p:spPr>
          <a:xfrm>
            <a:off x="649275" y="4445200"/>
            <a:ext cx="39618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latin typeface="Calibri"/>
                <a:ea typeface="Calibri"/>
                <a:cs typeface="Calibri"/>
                <a:sym typeface="Calibri"/>
              </a:rPr>
              <a:t>Внутренние данные Яндекс.Карты</a:t>
            </a:r>
            <a:endParaRPr sz="18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5361710" y="1250550"/>
            <a:ext cx="3547266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b="1" dirty="0">
                <a:latin typeface="+mj-lt"/>
                <a:ea typeface="Calibri"/>
                <a:cs typeface="Calibri"/>
                <a:sym typeface="Calibri"/>
              </a:rPr>
              <a:t>Выводы:</a:t>
            </a:r>
            <a:endParaRPr b="1" dirty="0">
              <a:latin typeface="+mj-lt"/>
              <a:ea typeface="Calibri"/>
              <a:cs typeface="Calibri"/>
              <a:sym typeface="Calibri"/>
            </a:endParaRPr>
          </a:p>
          <a:p>
            <a:pPr lvl="0">
              <a:lnSpc>
                <a:spcPct val="115000"/>
              </a:lnSpc>
            </a:pPr>
            <a:r>
              <a:rPr lang="ru-RU" dirty="0" smtClean="0">
                <a:latin typeface="+mj-lt"/>
              </a:rPr>
              <a:t>1. 4/5 заведений города </a:t>
            </a:r>
            <a:r>
              <a:rPr lang="ru-RU" dirty="0">
                <a:latin typeface="+mj-lt"/>
              </a:rPr>
              <a:t>составляют несетевые </a:t>
            </a:r>
            <a:r>
              <a:rPr lang="ru-RU" dirty="0" smtClean="0">
                <a:latin typeface="+mj-lt"/>
              </a:rPr>
              <a:t>места </a:t>
            </a:r>
            <a:r>
              <a:rPr lang="ru-RU" dirty="0"/>
              <a:t>(80,4%) </a:t>
            </a:r>
            <a:r>
              <a:rPr lang="ru-RU" dirty="0" smtClean="0">
                <a:latin typeface="+mj-lt"/>
              </a:rPr>
              <a:t>;</a:t>
            </a:r>
          </a:p>
          <a:p>
            <a:pPr lvl="0">
              <a:lnSpc>
                <a:spcPct val="115000"/>
              </a:lnSpc>
            </a:pPr>
            <a:r>
              <a:rPr lang="ru-RU" dirty="0" smtClean="0">
                <a:latin typeface="+mj-lt"/>
                <a:ea typeface="Calibri"/>
                <a:cs typeface="Calibri"/>
                <a:sym typeface="Calibri"/>
              </a:rPr>
              <a:t>2. Это объясняется тем, что сетей в сфере общественного питания в целом не так много, чем отдельных предприятий питания;</a:t>
            </a:r>
          </a:p>
          <a:p>
            <a:pPr lvl="0">
              <a:lnSpc>
                <a:spcPct val="115000"/>
              </a:lnSpc>
            </a:pPr>
            <a:r>
              <a:rPr lang="ru-RU" dirty="0" smtClean="0">
                <a:latin typeface="+mj-lt"/>
                <a:ea typeface="Calibri"/>
                <a:cs typeface="Calibri"/>
                <a:sym typeface="Calibri"/>
              </a:rPr>
              <a:t>3. Значительная доля несетевых заведений говорит о наличии конкуренции между частным бизнесом.</a:t>
            </a:r>
            <a:endParaRPr dirty="0"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74" t="21272" r="1689" b="16667"/>
          <a:stretch/>
        </p:blipFill>
        <p:spPr>
          <a:xfrm>
            <a:off x="488372" y="1468759"/>
            <a:ext cx="4601177" cy="246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399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xfrm>
            <a:off x="447591" y="483800"/>
            <a:ext cx="8114518" cy="5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2000" b="1" dirty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Доля сетевых предприятий общественного питания в Москве</a:t>
            </a:r>
            <a:endParaRPr sz="1400" b="1" dirty="0"/>
          </a:p>
        </p:txBody>
      </p:sp>
      <p:sp>
        <p:nvSpPr>
          <p:cNvPr id="142" name="Google Shape;142;p15"/>
          <p:cNvSpPr txBox="1"/>
          <p:nvPr/>
        </p:nvSpPr>
        <p:spPr>
          <a:xfrm>
            <a:off x="649275" y="4445200"/>
            <a:ext cx="39618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latin typeface="Calibri"/>
                <a:ea typeface="Calibri"/>
                <a:cs typeface="Calibri"/>
                <a:sym typeface="Calibri"/>
              </a:rPr>
              <a:t>Внутренние данные Яндекс.Карты</a:t>
            </a:r>
            <a:endParaRPr sz="18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5257801" y="1136250"/>
            <a:ext cx="3547266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b="1" dirty="0">
                <a:latin typeface="+mj-lt"/>
                <a:ea typeface="Calibri"/>
                <a:cs typeface="Calibri"/>
                <a:sym typeface="Calibri"/>
              </a:rPr>
              <a:t>Выводы:</a:t>
            </a:r>
            <a:endParaRPr b="1" dirty="0">
              <a:latin typeface="+mj-lt"/>
              <a:ea typeface="Calibri"/>
              <a:cs typeface="Calibri"/>
              <a:sym typeface="Calibri"/>
            </a:endParaRPr>
          </a:p>
          <a:p>
            <a:pPr lvl="0">
              <a:lnSpc>
                <a:spcPct val="115000"/>
              </a:lnSpc>
            </a:pPr>
            <a:r>
              <a:rPr lang="ru-RU" dirty="0" smtClean="0">
                <a:latin typeface="+mj-lt"/>
              </a:rPr>
              <a:t>1. </a:t>
            </a:r>
            <a:r>
              <a:rPr lang="ru-RU" dirty="0" smtClean="0">
                <a:latin typeface="+mj-lt"/>
              </a:rPr>
              <a:t>Сетевое распределение в большей степени характерно для предприятий быстрого обслуживания (41</a:t>
            </a:r>
            <a:r>
              <a:rPr lang="en-US" dirty="0" smtClean="0">
                <a:latin typeface="+mj-lt"/>
              </a:rPr>
              <a:t>%</a:t>
            </a:r>
            <a:r>
              <a:rPr lang="ru-RU" dirty="0" smtClean="0">
                <a:latin typeface="+mj-lt"/>
              </a:rPr>
              <a:t>).</a:t>
            </a:r>
            <a:endParaRPr lang="ru-RU" dirty="0" smtClean="0">
              <a:latin typeface="+mj-lt"/>
            </a:endParaRPr>
          </a:p>
          <a:p>
            <a:pPr lvl="0">
              <a:lnSpc>
                <a:spcPct val="115000"/>
              </a:lnSpc>
            </a:pPr>
            <a:r>
              <a:rPr lang="ru-RU" dirty="0" smtClean="0">
                <a:latin typeface="+mj-lt"/>
              </a:rPr>
              <a:t>2. </a:t>
            </a:r>
            <a:r>
              <a:rPr lang="ru-RU" dirty="0" smtClean="0">
                <a:latin typeface="+mj-lt"/>
              </a:rPr>
              <a:t>Сетевое распределение </a:t>
            </a:r>
            <a:r>
              <a:rPr lang="ru-RU" dirty="0" smtClean="0">
                <a:latin typeface="+mj-lt"/>
              </a:rPr>
              <a:t>в равной степени</a:t>
            </a:r>
            <a:r>
              <a:rPr lang="ru-RU" dirty="0" smtClean="0">
                <a:latin typeface="+mj-lt"/>
              </a:rPr>
              <a:t> характерно для кафе (22,8%) и ресторанов (23,7%).</a:t>
            </a:r>
          </a:p>
          <a:p>
            <a:pPr lvl="0">
              <a:lnSpc>
                <a:spcPct val="115000"/>
              </a:lnSpc>
            </a:pPr>
            <a:r>
              <a:rPr lang="ru-RU" dirty="0" smtClean="0">
                <a:latin typeface="+mj-lt"/>
                <a:ea typeface="Calibri"/>
                <a:cs typeface="Calibri"/>
                <a:sym typeface="Calibri"/>
              </a:rPr>
              <a:t>3. Наименее подвержены сетевому распределению бары, буфеты и столовые. Доля сетевых заведений среди своего типа составляет менее 5%.</a:t>
            </a:r>
            <a:endParaRPr dirty="0"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43" t="19091" r="12442"/>
          <a:stretch/>
        </p:blipFill>
        <p:spPr>
          <a:xfrm>
            <a:off x="447592" y="902267"/>
            <a:ext cx="4597296" cy="297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978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xfrm>
            <a:off x="752000" y="483800"/>
            <a:ext cx="7505700" cy="5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2000" b="1" dirty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Что характерно для сетевых </a:t>
            </a:r>
            <a:r>
              <a:rPr lang="ru-RU" sz="2000" b="1" dirty="0" smtClean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заведений?</a:t>
            </a:r>
            <a:endParaRPr sz="1400" b="1" dirty="0"/>
          </a:p>
        </p:txBody>
      </p:sp>
      <p:sp>
        <p:nvSpPr>
          <p:cNvPr id="142" name="Google Shape;142;p15"/>
          <p:cNvSpPr txBox="1"/>
          <p:nvPr/>
        </p:nvSpPr>
        <p:spPr>
          <a:xfrm>
            <a:off x="649275" y="4445200"/>
            <a:ext cx="39618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latin typeface="Calibri"/>
                <a:ea typeface="Calibri"/>
                <a:cs typeface="Calibri"/>
                <a:sym typeface="Calibri"/>
              </a:rPr>
              <a:t>Внутренние данные Яндекс.Карты</a:t>
            </a:r>
            <a:endParaRPr sz="18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5257801" y="1136250"/>
            <a:ext cx="3547266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b="1" dirty="0" smtClean="0">
                <a:latin typeface="+mj-lt"/>
                <a:ea typeface="Calibri"/>
                <a:cs typeface="Calibri"/>
                <a:sym typeface="Calibri"/>
              </a:rPr>
              <a:t>Вывод:</a:t>
            </a:r>
            <a:endParaRPr b="1" dirty="0">
              <a:latin typeface="+mj-lt"/>
              <a:ea typeface="Calibri"/>
              <a:cs typeface="Calibri"/>
              <a:sym typeface="Calibri"/>
            </a:endParaRPr>
          </a:p>
          <a:p>
            <a:pPr lvl="0">
              <a:lnSpc>
                <a:spcPct val="115000"/>
              </a:lnSpc>
            </a:pPr>
            <a:r>
              <a:rPr lang="ru-RU" dirty="0" smtClean="0">
                <a:latin typeface="+mj-lt"/>
              </a:rPr>
              <a:t>Распределение заведений по количеству посадочных мест сообщает, что </a:t>
            </a:r>
            <a:r>
              <a:rPr lang="ru-RU" dirty="0"/>
              <a:t>более предпочтительным </a:t>
            </a:r>
            <a:r>
              <a:rPr lang="ru-RU" dirty="0" smtClean="0"/>
              <a:t>для сетевых организаций является </a:t>
            </a:r>
            <a:r>
              <a:rPr lang="ru-RU" dirty="0"/>
              <a:t>большое количество заведений с небольшим количеством мест</a:t>
            </a:r>
            <a:r>
              <a:rPr lang="ru-RU" dirty="0" smtClean="0"/>
              <a:t>.</a:t>
            </a:r>
          </a:p>
          <a:p>
            <a:pPr lvl="0">
              <a:lnSpc>
                <a:spcPct val="115000"/>
              </a:lnSpc>
            </a:pPr>
            <a:endParaRPr dirty="0"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836" y="1317735"/>
            <a:ext cx="3057538" cy="303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062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xfrm>
            <a:off x="752000" y="483800"/>
            <a:ext cx="7505700" cy="5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2000" b="1" dirty="0" smtClean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Среднее </a:t>
            </a:r>
            <a:r>
              <a:rPr lang="ru-RU" sz="2000" b="1" dirty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количество посадочных мест</a:t>
            </a:r>
            <a:endParaRPr sz="1400" b="1" dirty="0"/>
          </a:p>
        </p:txBody>
      </p:sp>
      <p:sp>
        <p:nvSpPr>
          <p:cNvPr id="142" name="Google Shape;142;p15"/>
          <p:cNvSpPr txBox="1"/>
          <p:nvPr/>
        </p:nvSpPr>
        <p:spPr>
          <a:xfrm>
            <a:off x="649275" y="4445200"/>
            <a:ext cx="39618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latin typeface="Calibri"/>
                <a:ea typeface="Calibri"/>
                <a:cs typeface="Calibri"/>
                <a:sym typeface="Calibri"/>
              </a:rPr>
              <a:t>Внутренние данные Яндекс.Карты</a:t>
            </a:r>
            <a:endParaRPr sz="18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5257801" y="1053122"/>
            <a:ext cx="3547266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b="1" dirty="0" smtClean="0">
                <a:latin typeface="+mj-lt"/>
                <a:ea typeface="Calibri"/>
                <a:cs typeface="Calibri"/>
                <a:sym typeface="Calibri"/>
              </a:rPr>
              <a:t>Вывод:</a:t>
            </a:r>
            <a:endParaRPr b="1" dirty="0">
              <a:latin typeface="+mj-lt"/>
              <a:ea typeface="Calibri"/>
              <a:cs typeface="Calibri"/>
              <a:sym typeface="Calibri"/>
            </a:endParaRPr>
          </a:p>
          <a:p>
            <a:pPr lvl="0">
              <a:lnSpc>
                <a:spcPct val="115000"/>
              </a:lnSpc>
            </a:pPr>
            <a:r>
              <a:rPr lang="ru-RU" dirty="0" smtClean="0">
                <a:latin typeface="+mj-lt"/>
              </a:rPr>
              <a:t>1. В среднем больше всего посадочных мест предлагают столовые (131). Это объясняется тем, что такие заведения расположены в образовательных учреждениях, государственных организациях, в которых большая проходимость с небольшим средним чеком.</a:t>
            </a:r>
          </a:p>
          <a:p>
            <a:pPr lvl="0">
              <a:lnSpc>
                <a:spcPct val="115000"/>
              </a:lnSpc>
            </a:pPr>
            <a:r>
              <a:rPr lang="ru-RU" dirty="0" smtClean="0"/>
              <a:t>2. Среднее число посадочных мест в барах и кафе примерно равно (44 и 41 соответственно). Эти предприятия общественного питания имеют схожую ценовую политику и ориентированы на одну аудиторию.</a:t>
            </a:r>
          </a:p>
          <a:p>
            <a:pPr lvl="0">
              <a:lnSpc>
                <a:spcPct val="115000"/>
              </a:lnSpc>
            </a:pPr>
            <a:endParaRPr dirty="0"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53" y="1425489"/>
            <a:ext cx="4562334" cy="218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257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xfrm>
            <a:off x="752000" y="483800"/>
            <a:ext cx="7505700" cy="5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2000" b="1" dirty="0" smtClean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Топ-10 </a:t>
            </a:r>
            <a:r>
              <a:rPr lang="ru-RU" sz="2000" b="1" dirty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улиц по количеству объектов </a:t>
            </a:r>
            <a:r>
              <a:rPr lang="ru-RU" sz="2000" b="1" dirty="0" smtClean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питания</a:t>
            </a:r>
            <a:endParaRPr sz="1400" b="1" dirty="0"/>
          </a:p>
        </p:txBody>
      </p:sp>
      <p:sp>
        <p:nvSpPr>
          <p:cNvPr id="142" name="Google Shape;142;p15"/>
          <p:cNvSpPr txBox="1"/>
          <p:nvPr/>
        </p:nvSpPr>
        <p:spPr>
          <a:xfrm>
            <a:off x="649275" y="4445200"/>
            <a:ext cx="39618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latin typeface="Calibri"/>
                <a:ea typeface="Calibri"/>
                <a:cs typeface="Calibri"/>
                <a:sym typeface="Calibri"/>
              </a:rPr>
              <a:t>Внутренние данные Яндекс.Карты</a:t>
            </a:r>
            <a:endParaRPr sz="18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5257801" y="1053122"/>
            <a:ext cx="3547266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b="1" dirty="0" smtClean="0">
                <a:latin typeface="+mj-lt"/>
                <a:ea typeface="Calibri"/>
                <a:cs typeface="Calibri"/>
                <a:sym typeface="Calibri"/>
              </a:rPr>
              <a:t>Вывод:</a:t>
            </a:r>
            <a:endParaRPr b="1" dirty="0">
              <a:latin typeface="+mj-lt"/>
              <a:ea typeface="Calibri"/>
              <a:cs typeface="Calibri"/>
              <a:sym typeface="Calibri"/>
            </a:endParaRPr>
          </a:p>
          <a:p>
            <a:pPr lvl="0">
              <a:lnSpc>
                <a:spcPct val="115000"/>
              </a:lnSpc>
            </a:pPr>
            <a:r>
              <a:rPr lang="ru-RU" dirty="0" smtClean="0">
                <a:latin typeface="+mj-lt"/>
              </a:rPr>
              <a:t>Исходя </a:t>
            </a:r>
            <a:r>
              <a:rPr lang="ru-RU" dirty="0">
                <a:latin typeface="+mj-lt"/>
              </a:rPr>
              <a:t>из полученной информации можно сделать вывод, что больше всего объектов питания расположено на протяженных магистралях, который пересекают множество районов Москвы. Больше всего заведений расположено на </a:t>
            </a:r>
            <a:r>
              <a:rPr lang="ru-RU" dirty="0" err="1">
                <a:latin typeface="+mj-lt"/>
              </a:rPr>
              <a:t>пр.Мира</a:t>
            </a:r>
            <a:r>
              <a:rPr lang="ru-RU" dirty="0">
                <a:latin typeface="+mj-lt"/>
              </a:rPr>
              <a:t> (192), Ленинградском пр. (158) и Пресненской наб. (156).</a:t>
            </a:r>
          </a:p>
          <a:p>
            <a:pPr lvl="0">
              <a:lnSpc>
                <a:spcPct val="115000"/>
              </a:lnSpc>
            </a:pPr>
            <a:endParaRPr dirty="0"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12" t="9231" r="2728"/>
          <a:stretch/>
        </p:blipFill>
        <p:spPr>
          <a:xfrm>
            <a:off x="649275" y="1036981"/>
            <a:ext cx="4080983" cy="340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61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xfrm>
            <a:off x="752000" y="483800"/>
            <a:ext cx="7505700" cy="5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/>
            <a:r>
              <a:rPr lang="ru-RU" sz="2000" b="1" dirty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Топ-10 районов Москвы по количеству объектов общественного питания</a:t>
            </a:r>
            <a:endParaRPr sz="1400" b="1" dirty="0"/>
          </a:p>
        </p:txBody>
      </p:sp>
      <p:sp>
        <p:nvSpPr>
          <p:cNvPr id="142" name="Google Shape;142;p15"/>
          <p:cNvSpPr txBox="1"/>
          <p:nvPr/>
        </p:nvSpPr>
        <p:spPr>
          <a:xfrm>
            <a:off x="649275" y="4445200"/>
            <a:ext cx="39618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latin typeface="Calibri"/>
                <a:ea typeface="Calibri"/>
                <a:cs typeface="Calibri"/>
                <a:sym typeface="Calibri"/>
              </a:rPr>
              <a:t>Внутренние данные Яндекс.Карты</a:t>
            </a:r>
            <a:endParaRPr sz="18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5257801" y="1453481"/>
            <a:ext cx="3547266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b="1" dirty="0" smtClean="0">
                <a:latin typeface="+mj-lt"/>
                <a:ea typeface="Calibri"/>
                <a:cs typeface="Calibri"/>
                <a:sym typeface="Calibri"/>
              </a:rPr>
              <a:t>Вывод:</a:t>
            </a:r>
            <a:endParaRPr b="1" dirty="0">
              <a:latin typeface="+mj-lt"/>
              <a:ea typeface="Calibri"/>
              <a:cs typeface="Calibri"/>
              <a:sym typeface="Calibri"/>
            </a:endParaRPr>
          </a:p>
          <a:p>
            <a:pPr lvl="0">
              <a:lnSpc>
                <a:spcPct val="115000"/>
              </a:lnSpc>
            </a:pPr>
            <a:r>
              <a:rPr lang="ru-RU" dirty="0">
                <a:latin typeface="+mj-lt"/>
              </a:rPr>
              <a:t>Среди районов, включающих 10 самых популярных улиц для размещения точек питания, больше всего мест точек питания в Гагаринском </a:t>
            </a:r>
            <a:r>
              <a:rPr lang="ru-RU" dirty="0" smtClean="0">
                <a:latin typeface="+mj-lt"/>
              </a:rPr>
              <a:t>районе </a:t>
            </a:r>
            <a:r>
              <a:rPr lang="ru-RU" dirty="0">
                <a:latin typeface="+mj-lt"/>
              </a:rPr>
              <a:t>(</a:t>
            </a:r>
            <a:r>
              <a:rPr lang="ru-RU" dirty="0" smtClean="0">
                <a:latin typeface="+mj-lt"/>
              </a:rPr>
              <a:t>3 улицы), </a:t>
            </a:r>
            <a:r>
              <a:rPr lang="ru-RU" dirty="0">
                <a:latin typeface="+mj-lt"/>
              </a:rPr>
              <a:t>а также в районах - Тропарево-Никулино, </a:t>
            </a:r>
            <a:r>
              <a:rPr lang="ru-RU" dirty="0" err="1">
                <a:latin typeface="+mj-lt"/>
              </a:rPr>
              <a:t>Обручевский</a:t>
            </a:r>
            <a:r>
              <a:rPr lang="ru-RU" dirty="0">
                <a:latin typeface="+mj-lt"/>
              </a:rPr>
              <a:t>, Донской, Теплый стан, </a:t>
            </a:r>
            <a:r>
              <a:rPr lang="ru-RU" dirty="0" err="1">
                <a:latin typeface="+mj-lt"/>
              </a:rPr>
              <a:t>Нагатино</a:t>
            </a:r>
            <a:r>
              <a:rPr lang="ru-RU" dirty="0">
                <a:latin typeface="+mj-lt"/>
              </a:rPr>
              <a:t>-Садовники, </a:t>
            </a:r>
            <a:r>
              <a:rPr lang="ru-RU" dirty="0" smtClean="0">
                <a:latin typeface="+mj-lt"/>
              </a:rPr>
              <a:t>Ломоносовский (по 2 улицы), </a:t>
            </a:r>
            <a:r>
              <a:rPr lang="ru-RU" dirty="0">
                <a:latin typeface="+mj-lt"/>
              </a:rPr>
              <a:t>Свиблово, Северное </a:t>
            </a:r>
            <a:r>
              <a:rPr lang="ru-RU" dirty="0" smtClean="0">
                <a:latin typeface="+mj-lt"/>
              </a:rPr>
              <a:t>Бутово (по 1).</a:t>
            </a:r>
            <a:endParaRPr dirty="0"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3" t="8485" r="2382"/>
          <a:stretch/>
        </p:blipFill>
        <p:spPr>
          <a:xfrm>
            <a:off x="751999" y="976745"/>
            <a:ext cx="4297089" cy="358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398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xfrm>
            <a:off x="752000" y="483800"/>
            <a:ext cx="7505700" cy="5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/>
            <a:r>
              <a:rPr lang="ru-RU" sz="2000" b="1" dirty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Топ-10 районов Москвы, где на улицах размещено по одному объекту питания</a:t>
            </a:r>
            <a:endParaRPr sz="1400" b="1" dirty="0"/>
          </a:p>
        </p:txBody>
      </p:sp>
      <p:sp>
        <p:nvSpPr>
          <p:cNvPr id="142" name="Google Shape;142;p15"/>
          <p:cNvSpPr txBox="1"/>
          <p:nvPr/>
        </p:nvSpPr>
        <p:spPr>
          <a:xfrm>
            <a:off x="649275" y="4445200"/>
            <a:ext cx="39618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latin typeface="Calibri"/>
                <a:ea typeface="Calibri"/>
                <a:cs typeface="Calibri"/>
                <a:sym typeface="Calibri"/>
              </a:rPr>
              <a:t>Внутренние данные Яндекс.Карты</a:t>
            </a:r>
            <a:endParaRPr sz="18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5257801" y="1453481"/>
            <a:ext cx="3547266" cy="1923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b="1" dirty="0" smtClean="0">
                <a:latin typeface="+mj-lt"/>
                <a:ea typeface="Calibri"/>
                <a:cs typeface="Calibri"/>
                <a:sym typeface="Calibri"/>
              </a:rPr>
              <a:t>Вывод:</a:t>
            </a:r>
            <a:endParaRPr b="1" dirty="0">
              <a:latin typeface="+mj-lt"/>
              <a:ea typeface="Calibri"/>
              <a:cs typeface="Calibri"/>
              <a:sym typeface="Calibri"/>
            </a:endParaRPr>
          </a:p>
          <a:p>
            <a:pPr lvl="0">
              <a:lnSpc>
                <a:spcPct val="115000"/>
              </a:lnSpc>
            </a:pPr>
            <a:r>
              <a:rPr lang="ru-RU" dirty="0">
                <a:latin typeface="+mj-lt"/>
              </a:rPr>
              <a:t>В Москве обнаружено целых 579 улиц, на которых не более 1 места питания. При этом если посмотреть на районы, больше всего таких улиц в Таганском (28), Хамовники (26) и </a:t>
            </a:r>
            <a:r>
              <a:rPr lang="ru-RU" dirty="0" err="1">
                <a:latin typeface="+mj-lt"/>
              </a:rPr>
              <a:t>Басманных</a:t>
            </a:r>
            <a:r>
              <a:rPr lang="ru-RU" dirty="0">
                <a:latin typeface="+mj-lt"/>
              </a:rPr>
              <a:t> (24) районах и т.д</a:t>
            </a:r>
            <a:r>
              <a:rPr lang="ru-RU" dirty="0" smtClean="0">
                <a:latin typeface="+mj-lt"/>
              </a:rPr>
              <a:t>.</a:t>
            </a:r>
          </a:p>
          <a:p>
            <a:pPr lvl="0">
              <a:lnSpc>
                <a:spcPct val="115000"/>
              </a:lnSpc>
            </a:pPr>
            <a:r>
              <a:rPr lang="ru-RU" dirty="0" smtClean="0">
                <a:latin typeface="+mj-lt"/>
                <a:ea typeface="Calibri"/>
                <a:cs typeface="Calibri"/>
                <a:sym typeface="Calibri"/>
              </a:rPr>
              <a:t>Это объясняется тем, что такие районы либо спальные, либо находятся в </a:t>
            </a:r>
            <a:r>
              <a:rPr lang="ru-RU" dirty="0" err="1" smtClean="0">
                <a:latin typeface="+mj-lt"/>
                <a:ea typeface="Calibri"/>
                <a:cs typeface="Calibri"/>
                <a:sym typeface="Calibri"/>
              </a:rPr>
              <a:t>пром.зоне</a:t>
            </a:r>
            <a:r>
              <a:rPr lang="ru-RU" dirty="0" smtClean="0">
                <a:latin typeface="+mj-lt"/>
                <a:ea typeface="Calibri"/>
                <a:cs typeface="Calibri"/>
                <a:sym typeface="Calibri"/>
              </a:rPr>
              <a:t>.</a:t>
            </a:r>
            <a:endParaRPr dirty="0"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9" t="8687" r="2901" b="1414"/>
          <a:stretch/>
        </p:blipFill>
        <p:spPr>
          <a:xfrm>
            <a:off x="520820" y="1055900"/>
            <a:ext cx="4218710" cy="348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730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xfrm>
            <a:off x="752000" y="359108"/>
            <a:ext cx="7505700" cy="5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/>
            <a:r>
              <a:rPr lang="ru-RU" sz="2000" b="1" dirty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Распределение количества посадочных мест для улиц с большим количеством объектов общественного питания</a:t>
            </a:r>
            <a:endParaRPr sz="1400" b="1" dirty="0"/>
          </a:p>
        </p:txBody>
      </p:sp>
      <p:sp>
        <p:nvSpPr>
          <p:cNvPr id="142" name="Google Shape;142;p15"/>
          <p:cNvSpPr txBox="1"/>
          <p:nvPr/>
        </p:nvSpPr>
        <p:spPr>
          <a:xfrm>
            <a:off x="649275" y="4445200"/>
            <a:ext cx="39618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latin typeface="Calibri"/>
                <a:ea typeface="Calibri"/>
                <a:cs typeface="Calibri"/>
                <a:sym typeface="Calibri"/>
              </a:rPr>
              <a:t>Внутренние данные Яндекс.Карты</a:t>
            </a:r>
            <a:endParaRPr sz="18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5257801" y="1453481"/>
            <a:ext cx="3547266" cy="1923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b="1" dirty="0" smtClean="0">
                <a:latin typeface="+mj-lt"/>
                <a:ea typeface="Calibri"/>
                <a:cs typeface="Calibri"/>
                <a:sym typeface="Calibri"/>
              </a:rPr>
              <a:t>Вывод:</a:t>
            </a:r>
            <a:endParaRPr b="1" dirty="0">
              <a:latin typeface="+mj-lt"/>
              <a:ea typeface="Calibri"/>
              <a:cs typeface="Calibri"/>
              <a:sym typeface="Calibri"/>
            </a:endParaRPr>
          </a:p>
          <a:p>
            <a:pPr lvl="0">
              <a:lnSpc>
                <a:spcPct val="115000"/>
              </a:lnSpc>
            </a:pPr>
            <a:r>
              <a:rPr lang="ru-RU" dirty="0"/>
              <a:t>Исходя из полученного графика распределения следует, что большинство заведений общественного питания в Москве на основных магистралях имею до 250-300 посадочных мест.</a:t>
            </a:r>
            <a:endParaRPr dirty="0"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967" y="1215736"/>
            <a:ext cx="3242213" cy="3219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1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title"/>
          </p:nvPr>
        </p:nvSpPr>
        <p:spPr>
          <a:xfrm>
            <a:off x="943842" y="303621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500" b="1" dirty="0" smtClean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Техническое задание</a:t>
            </a:r>
            <a:endParaRPr lang="ru-RU" sz="3500" b="1" dirty="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4"/>
          <p:cNvSpPr txBox="1">
            <a:spLocks noGrp="1"/>
          </p:cNvSpPr>
          <p:nvPr>
            <p:ph type="body" idx="1"/>
          </p:nvPr>
        </p:nvSpPr>
        <p:spPr>
          <a:xfrm>
            <a:off x="819150" y="891648"/>
            <a:ext cx="7505700" cy="36803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indent="0">
              <a:buNone/>
            </a:pPr>
            <a:endParaRPr lang="ru-RU" sz="1400" dirty="0" smtClean="0">
              <a:latin typeface="+mj-lt"/>
            </a:endParaRPr>
          </a:p>
          <a:p>
            <a:pPr marL="146050" indent="0">
              <a:buNone/>
            </a:pPr>
            <a:r>
              <a:rPr lang="ru-RU" sz="1400" dirty="0" smtClean="0">
                <a:latin typeface="+mj-lt"/>
              </a:rPr>
              <a:t>Вы </a:t>
            </a:r>
            <a:r>
              <a:rPr lang="ru-RU" sz="1400" dirty="0">
                <a:latin typeface="+mj-lt"/>
              </a:rPr>
              <a:t>решили открыть небольшое кафе в Москве. Оно оригинальное — гостей должны обслуживать роботы. Проект многообещающий, но дорогой. Вместе с партнёрами вы решились обратиться к инвесторам. Их интересует текущее положение дел на рынке — сможете ли вы снискать популярность на долгое время, когда все зеваки насмотрятся на роботов-официантов?</a:t>
            </a:r>
          </a:p>
          <a:p>
            <a:pPr marL="146050" indent="0">
              <a:buNone/>
            </a:pPr>
            <a:endParaRPr lang="ru-RU" sz="1400" dirty="0" smtClean="0">
              <a:latin typeface="+mj-lt"/>
            </a:endParaRPr>
          </a:p>
          <a:p>
            <a:pPr marL="146050" indent="0">
              <a:buNone/>
            </a:pPr>
            <a:r>
              <a:rPr lang="ru-RU" sz="1400" dirty="0" smtClean="0">
                <a:latin typeface="+mj-lt"/>
              </a:rPr>
              <a:t>Вы </a:t>
            </a:r>
            <a:r>
              <a:rPr lang="ru-RU" sz="1400" dirty="0">
                <a:latin typeface="+mj-lt"/>
              </a:rPr>
              <a:t>— гуру аналитики, и партнёры просят вас подготовить исследование рынка. У вас есть открытые данные о заведениях общественного питания в Москве.</a:t>
            </a:r>
          </a:p>
        </p:txBody>
      </p:sp>
    </p:spTree>
    <p:extLst>
      <p:ext uri="{BB962C8B-B14F-4D97-AF65-F5344CB8AC3E}">
        <p14:creationId xmlns:p14="http://schemas.microsoft.com/office/powerpoint/2010/main" val="2785658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title"/>
          </p:nvPr>
        </p:nvSpPr>
        <p:spPr>
          <a:xfrm>
            <a:off x="819150" y="24127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500" b="1" dirty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Рекомендации инвесторам</a:t>
            </a:r>
          </a:p>
        </p:txBody>
      </p:sp>
      <p:sp>
        <p:nvSpPr>
          <p:cNvPr id="135" name="Google Shape;135;p14"/>
          <p:cNvSpPr txBox="1">
            <a:spLocks noGrp="1"/>
          </p:cNvSpPr>
          <p:nvPr>
            <p:ph type="body" idx="1"/>
          </p:nvPr>
        </p:nvSpPr>
        <p:spPr>
          <a:xfrm>
            <a:off x="819150" y="891648"/>
            <a:ext cx="7505700" cy="36803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lnSpc>
                <a:spcPct val="90000"/>
              </a:lnSpc>
              <a:spcBef>
                <a:spcPts val="1200"/>
              </a:spcBef>
              <a:buNone/>
            </a:pPr>
            <a:r>
              <a:rPr lang="ru-RU" sz="1350" dirty="0" smtClean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ru-RU" sz="1350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Более предпочтительным типом заведения считается ресторан. Конкуренция в сегменте кафе достаточно высока, при это высокотехнологичное предприятие изначально предполагает большие инвестиции и более высокий уровень кухни, чем просто кафе. </a:t>
            </a:r>
          </a:p>
          <a:p>
            <a:pPr marL="0" lvl="0" indent="0" algn="just">
              <a:lnSpc>
                <a:spcPct val="90000"/>
              </a:lnSpc>
              <a:spcBef>
                <a:spcPts val="1200"/>
              </a:spcBef>
              <a:buNone/>
            </a:pPr>
            <a:r>
              <a:rPr lang="ru-RU" sz="1350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ru-RU" sz="1350" dirty="0" smtClean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Поскольку, </a:t>
            </a:r>
            <a:r>
              <a:rPr lang="ru-RU" sz="1350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в </a:t>
            </a:r>
            <a:r>
              <a:rPr lang="ru-RU" sz="1350" dirty="0" smtClean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основном, </a:t>
            </a:r>
            <a:r>
              <a:rPr lang="ru-RU" sz="1350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по городу не распространены сетевые заведения, целесообразно запустить один ресторан, а постепенно расширять его в сеть, чтобы в каждом прибыльном районе города было свое необычное </a:t>
            </a:r>
            <a:r>
              <a:rPr lang="ru-RU" sz="1350" dirty="0" err="1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робото</a:t>
            </a:r>
            <a:r>
              <a:rPr lang="ru-RU" sz="1350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-кафе.</a:t>
            </a:r>
          </a:p>
          <a:p>
            <a:pPr marL="0" lvl="0" indent="0" algn="just">
              <a:lnSpc>
                <a:spcPct val="90000"/>
              </a:lnSpc>
              <a:spcBef>
                <a:spcPts val="1200"/>
              </a:spcBef>
              <a:buNone/>
            </a:pPr>
            <a:r>
              <a:rPr lang="ru-RU" sz="1350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3. Относительно районов, предпочтительно выбирать те районы, где мест общественного питания </a:t>
            </a:r>
            <a:r>
              <a:rPr lang="ru-RU" sz="1350" dirty="0" err="1" smtClean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нечрезмерно</a:t>
            </a:r>
            <a:r>
              <a:rPr lang="ru-RU" sz="1350" dirty="0" smtClean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350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много (см. топ 10 улиц), но и не так мало, как в тех, где их всего по одному на улицу (см. список районов, включающих улицы с одним местом общественного питания).</a:t>
            </a:r>
          </a:p>
          <a:p>
            <a:pPr marL="0" lvl="0" indent="0" algn="just">
              <a:lnSpc>
                <a:spcPct val="90000"/>
              </a:lnSpc>
              <a:spcBef>
                <a:spcPts val="1200"/>
              </a:spcBef>
              <a:buNone/>
            </a:pPr>
            <a:r>
              <a:rPr lang="ru-RU" sz="1350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4. Более предпочтительным для предприятий общественного питания Москвы является размещение большого количества заведений с небольшим количеством мест.</a:t>
            </a:r>
          </a:p>
          <a:p>
            <a:pPr marL="0" lvl="0" indent="0" algn="just">
              <a:lnSpc>
                <a:spcPct val="90000"/>
              </a:lnSpc>
              <a:spcBef>
                <a:spcPts val="1200"/>
              </a:spcBef>
              <a:buNone/>
            </a:pPr>
            <a:r>
              <a:rPr lang="ru-RU" sz="1350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5. Рекомендуется размещать от 40 до 100 посадочных мест.</a:t>
            </a:r>
            <a:endParaRPr sz="135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197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980</Words>
  <Application>Microsoft Office PowerPoint</Application>
  <PresentationFormat>Экран (16:9)</PresentationFormat>
  <Paragraphs>65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Calibri</vt:lpstr>
      <vt:lpstr>Arial</vt:lpstr>
      <vt:lpstr>Nunito</vt:lpstr>
      <vt:lpstr>Shift</vt:lpstr>
      <vt:lpstr>Анализ рынка заведений общественного питания Москвы</vt:lpstr>
      <vt:lpstr>Общие выводы</vt:lpstr>
      <vt:lpstr>Распрострненность заведений общественного питания по их типу</vt:lpstr>
      <vt:lpstr>Соотношение  сетевых и несетевых заведений</vt:lpstr>
      <vt:lpstr>Доля сетевых предприятий общественного питания в Москве</vt:lpstr>
      <vt:lpstr>Что характерно для сетевых заведений?</vt:lpstr>
      <vt:lpstr>Среднее количество посадочных мест</vt:lpstr>
      <vt:lpstr>Топ-10 улиц по количеству объектов питания</vt:lpstr>
      <vt:lpstr>Топ-10 районов Москвы по количеству объектов общественного питания</vt:lpstr>
      <vt:lpstr>Топ-10 районов Москвы, где на улицах размещено по одному объекту питания</vt:lpstr>
      <vt:lpstr>Распределение количества посадочных мест для улиц с большим количеством объектов общественного питания</vt:lpstr>
      <vt:lpstr>Техническое задание</vt:lpstr>
      <vt:lpstr>Рекомендации инвесторам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рынка заведений общественного питания Москвы</dc:title>
  <dc:creator>Иван Петрусев</dc:creator>
  <cp:lastModifiedBy>Иван Петрусев</cp:lastModifiedBy>
  <cp:revision>19</cp:revision>
  <dcterms:modified xsi:type="dcterms:W3CDTF">2020-02-09T16:35:56Z</dcterms:modified>
</cp:coreProperties>
</file>